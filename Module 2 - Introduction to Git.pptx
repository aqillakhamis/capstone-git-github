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15" r:id="rId2"/>
    <p:sldId id="318" r:id="rId3"/>
    <p:sldId id="338" r:id="rId4"/>
    <p:sldId id="321" r:id="rId5"/>
    <p:sldId id="360" r:id="rId6"/>
    <p:sldId id="363" r:id="rId7"/>
    <p:sldId id="361" r:id="rId8"/>
    <p:sldId id="364" r:id="rId9"/>
    <p:sldId id="362" r:id="rId10"/>
    <p:sldId id="365" r:id="rId11"/>
    <p:sldId id="343" r:id="rId12"/>
    <p:sldId id="358" r:id="rId13"/>
    <p:sldId id="359" r:id="rId14"/>
    <p:sldId id="3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4F29"/>
    <a:srgbClr val="6C1D35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DBAFB3-DE68-1647-8EA9-D03C3DCD7FCD}" v="9" dt="2025-11-17T05:38:14.5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10" autoAdjust="0"/>
    <p:restoredTop sz="95326" autoAdjust="0"/>
  </p:normalViewPr>
  <p:slideViewPr>
    <p:cSldViewPr snapToGrid="0">
      <p:cViewPr varScale="1">
        <p:scale>
          <a:sx n="76" d="100"/>
          <a:sy n="76" d="100"/>
        </p:scale>
        <p:origin x="216" y="9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ULAQILLA BINTI KHAMIS" userId="3bc8354e-5c4b-415b-9f41-6af7b69ef341" providerId="ADAL" clId="{AE7019C8-8750-5001-A3B4-F897FDE50C03}"/>
    <pc:docChg chg="modSld">
      <pc:chgData name="NURULAQILLA BINTI KHAMIS" userId="3bc8354e-5c4b-415b-9f41-6af7b69ef341" providerId="ADAL" clId="{AE7019C8-8750-5001-A3B4-F897FDE50C03}" dt="2025-11-17T05:40:29.377" v="66" actId="113"/>
      <pc:docMkLst>
        <pc:docMk/>
      </pc:docMkLst>
      <pc:sldChg chg="addSp delSp modSp mod">
        <pc:chgData name="NURULAQILLA BINTI KHAMIS" userId="3bc8354e-5c4b-415b-9f41-6af7b69ef341" providerId="ADAL" clId="{AE7019C8-8750-5001-A3B4-F897FDE50C03}" dt="2025-11-17T05:40:29.377" v="66" actId="113"/>
        <pc:sldMkLst>
          <pc:docMk/>
          <pc:sldMk cId="555380832" sldId="358"/>
        </pc:sldMkLst>
        <pc:spChg chg="mod">
          <ac:chgData name="NURULAQILLA BINTI KHAMIS" userId="3bc8354e-5c4b-415b-9f41-6af7b69ef341" providerId="ADAL" clId="{AE7019C8-8750-5001-A3B4-F897FDE50C03}" dt="2025-11-17T05:40:29.377" v="66" actId="113"/>
          <ac:spMkLst>
            <pc:docMk/>
            <pc:sldMk cId="555380832" sldId="358"/>
            <ac:spMk id="10" creationId="{FAF0C673-1B00-81E2-98D0-F9306978E547}"/>
          </ac:spMkLst>
        </pc:spChg>
        <pc:picChg chg="add mod">
          <ac:chgData name="NURULAQILLA BINTI KHAMIS" userId="3bc8354e-5c4b-415b-9f41-6af7b69ef341" providerId="ADAL" clId="{AE7019C8-8750-5001-A3B4-F897FDE50C03}" dt="2025-11-17T05:37:46.987" v="43" actId="14100"/>
          <ac:picMkLst>
            <pc:docMk/>
            <pc:sldMk cId="555380832" sldId="358"/>
            <ac:picMk id="1026" creationId="{8624DA24-4716-952B-2313-F967B8C3C3D9}"/>
          </ac:picMkLst>
        </pc:picChg>
        <pc:picChg chg="del">
          <ac:chgData name="NURULAQILLA BINTI KHAMIS" userId="3bc8354e-5c4b-415b-9f41-6af7b69ef341" providerId="ADAL" clId="{AE7019C8-8750-5001-A3B4-F897FDE50C03}" dt="2025-11-17T05:37:42.379" v="40" actId="478"/>
          <ac:picMkLst>
            <pc:docMk/>
            <pc:sldMk cId="555380832" sldId="358"/>
            <ac:picMk id="1028" creationId="{AFED5770-DF77-02A7-E9F1-B377AAB32A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09BF-53EE-4D84-844F-BEC1430829BC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B6879-5321-45FF-A6AE-E6B1BB62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85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8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jpe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28041" y="-1428041"/>
            <a:ext cx="6880030" cy="9736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59093" y="0"/>
            <a:ext cx="12073813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 userDrawn="1"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 userDrawn="1"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1100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067647-2A24-7F60-343F-54B2D048AA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42" y="351772"/>
            <a:ext cx="2249407" cy="75189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97967C0-3D58-5E35-54C4-0E7C25DA82B1}"/>
              </a:ext>
            </a:extLst>
          </p:cNvPr>
          <p:cNvGrpSpPr/>
          <p:nvPr userDrawn="1"/>
        </p:nvGrpSpPr>
        <p:grpSpPr>
          <a:xfrm>
            <a:off x="2821039" y="123568"/>
            <a:ext cx="2892962" cy="1174663"/>
            <a:chOff x="9707871" y="-53009"/>
            <a:chExt cx="2592079" cy="10524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7160AC-9941-06E6-6BE6-5A27DEA28C61}"/>
                </a:ext>
              </a:extLst>
            </p:cNvPr>
            <p:cNvSpPr/>
            <p:nvPr/>
          </p:nvSpPr>
          <p:spPr>
            <a:xfrm>
              <a:off x="10327492" y="120650"/>
              <a:ext cx="1756558" cy="774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53A3B51-85B4-8A53-BFC7-2B28EB1C2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7871" y="-53009"/>
              <a:ext cx="2592079" cy="105249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4E4F67B-6D5F-A42A-FF58-6D31BF087E5D}"/>
              </a:ext>
            </a:extLst>
          </p:cNvPr>
          <p:cNvSpPr txBox="1"/>
          <p:nvPr userDrawn="1"/>
        </p:nvSpPr>
        <p:spPr>
          <a:xfrm>
            <a:off x="7162799" y="6595932"/>
            <a:ext cx="502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for Center for Artificial Intelligence and Robotics, UTM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FA8326-62BF-7DB5-D8A2-6AFA5BBF0945}"/>
              </a:ext>
            </a:extLst>
          </p:cNvPr>
          <p:cNvSpPr/>
          <p:nvPr userDrawn="1"/>
        </p:nvSpPr>
        <p:spPr>
          <a:xfrm>
            <a:off x="5618168" y="6671483"/>
            <a:ext cx="1190970" cy="1608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5964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 userDrawn="1"/>
        </p:nvGrpSpPr>
        <p:grpSpPr>
          <a:xfrm>
            <a:off x="0" y="0"/>
            <a:ext cx="4323456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26331" y="-1062392"/>
            <a:ext cx="240508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602281" y="2616106"/>
            <a:ext cx="7046892" cy="181468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83211" y="3743462"/>
            <a:ext cx="2080701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830037" y="6046777"/>
            <a:ext cx="4191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7112000" y="-35081"/>
            <a:ext cx="491744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1268262" y="349094"/>
            <a:ext cx="2010036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 userDrawn="1"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2686050" y="-2686050"/>
            <a:ext cx="6858000" cy="122301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 userDrawn="1"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47751"/>
            <a:ext cx="10515600" cy="1500187"/>
          </a:xfrm>
        </p:spPr>
        <p:txBody>
          <a:bodyPr anchor="t"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4638"/>
            <a:ext cx="10515600" cy="33575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 userDrawn="1"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2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81125"/>
          </a:xfrm>
        </p:spPr>
        <p:txBody>
          <a:bodyPr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8"/>
            <a:ext cx="9144000" cy="346175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fld id="{B5912E74-8957-4046-8937-1199D06651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 userDrawn="1"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59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 userDrawn="1"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EB9FF-3F97-6988-77AF-D1236E720784}"/>
              </a:ext>
            </a:extLst>
          </p:cNvPr>
          <p:cNvSpPr/>
          <p:nvPr userDrawn="1"/>
        </p:nvSpPr>
        <p:spPr>
          <a:xfrm rot="16200000">
            <a:off x="11152257" y="5409768"/>
            <a:ext cx="1782417" cy="297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B601FB-669C-CF29-D9E1-4092A46A1D58}"/>
              </a:ext>
            </a:extLst>
          </p:cNvPr>
          <p:cNvGrpSpPr/>
          <p:nvPr userDrawn="1"/>
        </p:nvGrpSpPr>
        <p:grpSpPr>
          <a:xfrm>
            <a:off x="9707871" y="-53009"/>
            <a:ext cx="2592079" cy="1052492"/>
            <a:chOff x="9707871" y="-53009"/>
            <a:chExt cx="2592079" cy="105249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54270C9-0E2E-9E8B-5842-875F860086C3}"/>
                </a:ext>
              </a:extLst>
            </p:cNvPr>
            <p:cNvSpPr/>
            <p:nvPr/>
          </p:nvSpPr>
          <p:spPr>
            <a:xfrm>
              <a:off x="10327492" y="120650"/>
              <a:ext cx="1756558" cy="774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9037DB3-963F-C20A-153A-5466483B2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7871" y="-53009"/>
              <a:ext cx="2592079" cy="1052492"/>
            </a:xfrm>
            <a:prstGeom prst="rect">
              <a:avLst/>
            </a:prstGeom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4015447-7811-2AC6-559D-125D4C835054}"/>
              </a:ext>
            </a:extLst>
          </p:cNvPr>
          <p:cNvSpPr/>
          <p:nvPr userDrawn="1"/>
        </p:nvSpPr>
        <p:spPr>
          <a:xfrm>
            <a:off x="0" y="6815959"/>
            <a:ext cx="12192000" cy="46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D9FA71-CA16-A423-1F0B-7FDDB0567E4F}"/>
              </a:ext>
            </a:extLst>
          </p:cNvPr>
          <p:cNvSpPr txBox="1"/>
          <p:nvPr userDrawn="1"/>
        </p:nvSpPr>
        <p:spPr>
          <a:xfrm>
            <a:off x="7162799" y="6595932"/>
            <a:ext cx="502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0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for Center for Artificial Intelligence and Robotics, UTM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9A70C8-9300-6E34-911B-2D143630CA4F}"/>
              </a:ext>
            </a:extLst>
          </p:cNvPr>
          <p:cNvSpPr txBox="1"/>
          <p:nvPr userDrawn="1"/>
        </p:nvSpPr>
        <p:spPr bwMode="auto">
          <a:xfrm>
            <a:off x="3894931" y="2642999"/>
            <a:ext cx="4706938" cy="255454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THANK</a:t>
            </a:r>
            <a:r>
              <a:rPr lang="en-US" sz="8000" b="1" dirty="0">
                <a:solidFill>
                  <a:srgbClr val="6C1D35"/>
                </a:solidFill>
                <a:cs typeface="Arial" panose="020B0604020202020204" pitchFamily="34" charset="0"/>
              </a:rPr>
              <a:t> </a:t>
            </a:r>
            <a:r>
              <a:rPr lang="en-US" sz="8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YOU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CDDA095-7730-186A-FBFC-8BA8E2F69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5" b="13450"/>
          <a:stretch/>
        </p:blipFill>
        <p:spPr>
          <a:xfrm>
            <a:off x="4917487" y="659432"/>
            <a:ext cx="2661826" cy="1909300"/>
          </a:xfrm>
          <a:prstGeom prst="rect">
            <a:avLst/>
          </a:prstGeom>
        </p:spPr>
      </p:pic>
      <p:sp>
        <p:nvSpPr>
          <p:cNvPr id="28" name="Shape 2873">
            <a:extLst>
              <a:ext uri="{FF2B5EF4-FFF2-40B4-BE49-F238E27FC236}">
                <a16:creationId xmlns:a16="http://schemas.microsoft.com/office/drawing/2014/main" id="{25F63C6A-CD75-A4BA-7BC5-6189932BAFF9}"/>
              </a:ext>
            </a:extLst>
          </p:cNvPr>
          <p:cNvSpPr/>
          <p:nvPr userDrawn="1"/>
        </p:nvSpPr>
        <p:spPr>
          <a:xfrm>
            <a:off x="4271169" y="5314731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5" y="7858"/>
                </a:lnTo>
                <a:lnTo>
                  <a:pt x="13245" y="6381"/>
                </a:lnTo>
                <a:lnTo>
                  <a:pt x="11938" y="6381"/>
                </a:lnTo>
                <a:cubicBezTo>
                  <a:pt x="10368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9" name="Shape 2884">
            <a:extLst>
              <a:ext uri="{FF2B5EF4-FFF2-40B4-BE49-F238E27FC236}">
                <a16:creationId xmlns:a16="http://schemas.microsoft.com/office/drawing/2014/main" id="{B26C8767-5951-C257-14BA-674697C30BD9}"/>
              </a:ext>
            </a:extLst>
          </p:cNvPr>
          <p:cNvSpPr/>
          <p:nvPr userDrawn="1"/>
        </p:nvSpPr>
        <p:spPr>
          <a:xfrm>
            <a:off x="4271169" y="5799712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36" y="10309"/>
                </a:moveTo>
                <a:cubicBezTo>
                  <a:pt x="13551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8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8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0" y="10800"/>
                  <a:pt x="9312" y="10469"/>
                  <a:pt x="10852" y="9873"/>
                </a:cubicBezTo>
                <a:cubicBezTo>
                  <a:pt x="11015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8"/>
                  <a:pt x="10353" y="9001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0" name="Shape 2836">
            <a:extLst>
              <a:ext uri="{FF2B5EF4-FFF2-40B4-BE49-F238E27FC236}">
                <a16:creationId xmlns:a16="http://schemas.microsoft.com/office/drawing/2014/main" id="{28795646-C91A-6C6B-5299-1D15BAA4B496}"/>
              </a:ext>
            </a:extLst>
          </p:cNvPr>
          <p:cNvSpPr/>
          <p:nvPr userDrawn="1"/>
        </p:nvSpPr>
        <p:spPr>
          <a:xfrm>
            <a:off x="4271169" y="6284693"/>
            <a:ext cx="279328" cy="203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0B46CC-79EA-D515-56DA-3C84CD9BA95C}"/>
              </a:ext>
            </a:extLst>
          </p:cNvPr>
          <p:cNvSpPr txBox="1"/>
          <p:nvPr userDrawn="1"/>
        </p:nvSpPr>
        <p:spPr>
          <a:xfrm>
            <a:off x="4587080" y="5314731"/>
            <a:ext cx="35687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MY" sz="1200" b="1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 for Artificial Intelligence and Robotics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B38DBF-7380-3E05-90E7-67BDDF800CE4}"/>
              </a:ext>
            </a:extLst>
          </p:cNvPr>
          <p:cNvSpPr txBox="1"/>
          <p:nvPr userDrawn="1"/>
        </p:nvSpPr>
        <p:spPr>
          <a:xfrm>
            <a:off x="4587081" y="5785703"/>
            <a:ext cx="2980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research.utm.my/cairo/</a:t>
            </a:r>
            <a:endParaRPr lang="en-MY" sz="1200" b="1" dirty="0">
              <a:solidFill>
                <a:srgbClr val="6C1D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06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 userDrawn="1"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3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 userDrawn="1"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019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 userDrawn="1"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66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4713261" y="1270"/>
            <a:ext cx="7112053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 userDrawn="1"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71969" cy="1600200"/>
          </a:xfrm>
        </p:spPr>
        <p:txBody>
          <a:bodyPr anchor="b">
            <a:norm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77196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 userDrawn="1"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10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0B7684-EC45-6927-3B6A-1A807A57857D}"/>
              </a:ext>
            </a:extLst>
          </p:cNvPr>
          <p:cNvSpPr txBox="1"/>
          <p:nvPr userDrawn="1"/>
        </p:nvSpPr>
        <p:spPr>
          <a:xfrm>
            <a:off x="7162799" y="6595932"/>
            <a:ext cx="502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0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for Center for Artificial Intelligence and Robotics, UTM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ED4625-58BB-2550-D522-15FD62BCCECF}"/>
              </a:ext>
            </a:extLst>
          </p:cNvPr>
          <p:cNvGrpSpPr/>
          <p:nvPr userDrawn="1"/>
        </p:nvGrpSpPr>
        <p:grpSpPr>
          <a:xfrm>
            <a:off x="9707871" y="-53009"/>
            <a:ext cx="2592079" cy="1052492"/>
            <a:chOff x="9707871" y="-53009"/>
            <a:chExt cx="2592079" cy="105249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559405-9ADA-429C-76A7-81691917BD51}"/>
                </a:ext>
              </a:extLst>
            </p:cNvPr>
            <p:cNvSpPr/>
            <p:nvPr/>
          </p:nvSpPr>
          <p:spPr>
            <a:xfrm>
              <a:off x="10327492" y="120650"/>
              <a:ext cx="1756558" cy="774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983A038-18BB-F666-E66D-14F8264A7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7871" y="-53009"/>
              <a:ext cx="2592079" cy="1052492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EDBE7-8CCB-AE83-3AE7-DB0BB3400118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5DC66D-E790-38E3-62C7-15BAE9E44F06}"/>
              </a:ext>
            </a:extLst>
          </p:cNvPr>
          <p:cNvSpPr/>
          <p:nvPr userDrawn="1"/>
        </p:nvSpPr>
        <p:spPr>
          <a:xfrm>
            <a:off x="0" y="6815959"/>
            <a:ext cx="12192000" cy="46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99613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 userDrawn="1"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 userDrawn="1"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20" y="283589"/>
            <a:ext cx="1470825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 userDrawn="1"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828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 userDrawn="1"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6B21FD-2E85-AC69-77BD-EB2A0637DEC8}"/>
              </a:ext>
            </a:extLst>
          </p:cNvPr>
          <p:cNvGrpSpPr/>
          <p:nvPr userDrawn="1"/>
        </p:nvGrpSpPr>
        <p:grpSpPr>
          <a:xfrm>
            <a:off x="9707871" y="-53009"/>
            <a:ext cx="2592079" cy="1052492"/>
            <a:chOff x="9707871" y="-53009"/>
            <a:chExt cx="2592079" cy="105249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E0DFD36-46E2-78F0-E3EF-3009B2E6AE0C}"/>
                </a:ext>
              </a:extLst>
            </p:cNvPr>
            <p:cNvSpPr/>
            <p:nvPr/>
          </p:nvSpPr>
          <p:spPr>
            <a:xfrm>
              <a:off x="10327492" y="120650"/>
              <a:ext cx="1756558" cy="774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BBCABE7-6BA8-4A9B-A4D7-A7FA34E8E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7871" y="-53009"/>
              <a:ext cx="2592079" cy="1052492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64574C0-E2EA-B5F2-8AE6-52C2CA5B012B}"/>
              </a:ext>
            </a:extLst>
          </p:cNvPr>
          <p:cNvSpPr txBox="1"/>
          <p:nvPr userDrawn="1"/>
        </p:nvSpPr>
        <p:spPr>
          <a:xfrm>
            <a:off x="7162799" y="6595932"/>
            <a:ext cx="5029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kern="0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for Center for Artificial Intelligence and Robotics, UTM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6BBED9-CBD6-5A77-2EB6-6F803EC94E77}"/>
              </a:ext>
            </a:extLst>
          </p:cNvPr>
          <p:cNvSpPr/>
          <p:nvPr userDrawn="1"/>
        </p:nvSpPr>
        <p:spPr>
          <a:xfrm rot="16200000">
            <a:off x="11152257" y="5409768"/>
            <a:ext cx="1782417" cy="297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8947F9-1ADC-FFE1-B066-90A6CC7E9D3D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7922BC-94D0-3311-6842-28766FB8A6D4}"/>
              </a:ext>
            </a:extLst>
          </p:cNvPr>
          <p:cNvSpPr/>
          <p:nvPr userDrawn="1"/>
        </p:nvSpPr>
        <p:spPr>
          <a:xfrm>
            <a:off x="0" y="6815959"/>
            <a:ext cx="12192000" cy="46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43350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 userDrawn="1"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66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959E7-45DE-4A2D-ACFD-0D8C8BBAB79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6" r:id="rId3"/>
    <p:sldLayoutId id="2147483662" r:id="rId4"/>
    <p:sldLayoutId id="2147483651" r:id="rId5"/>
    <p:sldLayoutId id="2147483649" r:id="rId6"/>
    <p:sldLayoutId id="2147483650" r:id="rId7"/>
    <p:sldLayoutId id="2147483652" r:id="rId8"/>
    <p:sldLayoutId id="2147483653" r:id="rId9"/>
    <p:sldLayoutId id="2147483654" r:id="rId10"/>
    <p:sldLayoutId id="2147483656" r:id="rId11"/>
    <p:sldLayoutId id="2147483655" r:id="rId12"/>
    <p:sldLayoutId id="2147483660" r:id="rId13"/>
    <p:sldLayoutId id="2147483657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8A1118-5400-A7F7-749B-73FC26E28128}"/>
              </a:ext>
            </a:extLst>
          </p:cNvPr>
          <p:cNvSpPr txBox="1"/>
          <p:nvPr/>
        </p:nvSpPr>
        <p:spPr>
          <a:xfrm>
            <a:off x="388009" y="1633242"/>
            <a:ext cx="1141598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MODULE 2 : </a:t>
            </a:r>
          </a:p>
          <a:p>
            <a:r>
              <a:rPr lang="en-US" sz="55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INTRODUCTION TO GIT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6BD42B-654C-CCC7-C9E4-9072F7172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429" y="6352942"/>
            <a:ext cx="2136771" cy="1608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940645-5A86-A22E-F904-2824194048A4}"/>
              </a:ext>
            </a:extLst>
          </p:cNvPr>
          <p:cNvSpPr txBox="1"/>
          <p:nvPr/>
        </p:nvSpPr>
        <p:spPr>
          <a:xfrm>
            <a:off x="1039269" y="5062196"/>
            <a:ext cx="77223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dirty="0">
                <a:latin typeface="Arial" panose="020B0604020202020204" pitchFamily="34" charset="0"/>
                <a:cs typeface="Arial" panose="020B0604020202020204" pitchFamily="34" charset="0"/>
              </a:rPr>
              <a:t>PREPARED BY:</a:t>
            </a:r>
          </a:p>
          <a:p>
            <a:r>
              <a:rPr lang="en-US" sz="1500" kern="0">
                <a:latin typeface="Arial" panose="020B0604020202020204" pitchFamily="34" charset="0"/>
                <a:cs typeface="Arial" panose="020B0604020202020204" pitchFamily="34" charset="0"/>
              </a:rPr>
              <a:t>Dr. Nurulaqilla </a:t>
            </a:r>
            <a:r>
              <a:rPr lang="en-US" sz="1500" kern="0" dirty="0">
                <a:latin typeface="Arial" panose="020B0604020202020204" pitchFamily="34" charset="0"/>
                <a:cs typeface="Arial" panose="020B0604020202020204" pitchFamily="34" charset="0"/>
              </a:rPr>
              <a:t>Khamis</a:t>
            </a:r>
            <a:br>
              <a:rPr lang="en-US" sz="1500" kern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kern="0" dirty="0">
                <a:latin typeface="Arial" panose="020B0604020202020204" pitchFamily="34" charset="0"/>
                <a:cs typeface="Arial" panose="020B0604020202020204" pitchFamily="34" charset="0"/>
              </a:rPr>
              <a:t>Center for Artificial Intelligence and Robotics</a:t>
            </a:r>
          </a:p>
          <a:p>
            <a:r>
              <a:rPr lang="en-US" sz="1500" kern="0" dirty="0" err="1">
                <a:latin typeface="Arial" panose="020B0604020202020204" pitchFamily="34" charset="0"/>
                <a:cs typeface="Arial" panose="020B0604020202020204" pitchFamily="34" charset="0"/>
              </a:rPr>
              <a:t>Universiti</a:t>
            </a:r>
            <a:r>
              <a:rPr lang="en-US" sz="15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kern="0" dirty="0" err="1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500" kern="0" dirty="0">
                <a:latin typeface="Arial" panose="020B0604020202020204" pitchFamily="34" charset="0"/>
                <a:cs typeface="Arial" panose="020B0604020202020204" pitchFamily="34" charset="0"/>
              </a:rPr>
              <a:t> Malaysia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668CD7-F8B8-E284-DCAB-16DCED39979C}"/>
              </a:ext>
            </a:extLst>
          </p:cNvPr>
          <p:cNvSpPr/>
          <p:nvPr/>
        </p:nvSpPr>
        <p:spPr>
          <a:xfrm>
            <a:off x="5618168" y="6671483"/>
            <a:ext cx="1190970" cy="1608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4BDE47-0BC2-EE39-1D66-2CAE903379EF}"/>
              </a:ext>
            </a:extLst>
          </p:cNvPr>
          <p:cNvSpPr/>
          <p:nvPr/>
        </p:nvSpPr>
        <p:spPr>
          <a:xfrm>
            <a:off x="5380382" y="6249219"/>
            <a:ext cx="1782417" cy="297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5" name="Google Shape;226;p1" descr="github-logo-tile - New Signature">
            <a:extLst>
              <a:ext uri="{FF2B5EF4-FFF2-40B4-BE49-F238E27FC236}">
                <a16:creationId xmlns:a16="http://schemas.microsoft.com/office/drawing/2014/main" id="{1276B3D1-0998-FBCE-7D98-FEAE9119483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8533" y="4264732"/>
            <a:ext cx="3001551" cy="198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28;p1" descr="Git - Logo Downloads">
            <a:extLst>
              <a:ext uri="{FF2B5EF4-FFF2-40B4-BE49-F238E27FC236}">
                <a16:creationId xmlns:a16="http://schemas.microsoft.com/office/drawing/2014/main" id="{4CFC4E51-D1BD-218A-97A7-63677315B52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10084" y="4790370"/>
            <a:ext cx="3629597" cy="1165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3746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625D2E-5649-48D7-BA43-D276355E7B1E}"/>
              </a:ext>
            </a:extLst>
          </p:cNvPr>
          <p:cNvSpPr txBox="1"/>
          <p:nvPr/>
        </p:nvSpPr>
        <p:spPr>
          <a:xfrm>
            <a:off x="1441320" y="2774270"/>
            <a:ext cx="4507692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What is Git?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0E693-5487-4F37-935A-597EEE2E0891}"/>
              </a:ext>
            </a:extLst>
          </p:cNvPr>
          <p:cNvSpPr txBox="1"/>
          <p:nvPr/>
        </p:nvSpPr>
        <p:spPr>
          <a:xfrm>
            <a:off x="1441320" y="3712445"/>
            <a:ext cx="5334534" cy="707886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Git Workflow and Fundamental Git Concepts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5775D0-52AC-4705-B82D-D2AF913E31DF}"/>
              </a:ext>
            </a:extLst>
          </p:cNvPr>
          <p:cNvSpPr txBox="1"/>
          <p:nvPr/>
        </p:nvSpPr>
        <p:spPr>
          <a:xfrm>
            <a:off x="7684306" y="2774270"/>
            <a:ext cx="4507692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Basic Git Terminology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F4251C-7124-4EF0-862D-6CE00038E98D}"/>
              </a:ext>
            </a:extLst>
          </p:cNvPr>
          <p:cNvSpPr txBox="1"/>
          <p:nvPr/>
        </p:nvSpPr>
        <p:spPr>
          <a:xfrm>
            <a:off x="7684308" y="3876293"/>
            <a:ext cx="4507692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Basic Git Commands in CLI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EFD43F-927D-4055-9894-52355D896391}"/>
              </a:ext>
            </a:extLst>
          </p:cNvPr>
          <p:cNvSpPr txBox="1"/>
          <p:nvPr/>
        </p:nvSpPr>
        <p:spPr>
          <a:xfrm>
            <a:off x="375312" y="78519"/>
            <a:ext cx="95116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MODULE OUTLINE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0B43BD-2902-4A73-B6DE-75184D4F595C}"/>
              </a:ext>
            </a:extLst>
          </p:cNvPr>
          <p:cNvSpPr/>
          <p:nvPr/>
        </p:nvSpPr>
        <p:spPr>
          <a:xfrm rot="16200000">
            <a:off x="11152257" y="5409768"/>
            <a:ext cx="1782417" cy="297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FE166F-B468-DAA3-A2EE-D22208A8A2FA}"/>
              </a:ext>
            </a:extLst>
          </p:cNvPr>
          <p:cNvSpPr txBox="1"/>
          <p:nvPr/>
        </p:nvSpPr>
        <p:spPr>
          <a:xfrm>
            <a:off x="429325" y="2600130"/>
            <a:ext cx="1014803" cy="73866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200" b="1" dirty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ko-KR" altLang="en-US" sz="4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6E785-68E8-CB9E-9F16-F09A8F859601}"/>
              </a:ext>
            </a:extLst>
          </p:cNvPr>
          <p:cNvSpPr txBox="1"/>
          <p:nvPr/>
        </p:nvSpPr>
        <p:spPr>
          <a:xfrm>
            <a:off x="426517" y="3543169"/>
            <a:ext cx="1014803" cy="73866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200" b="1" dirty="0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ko-KR" altLang="en-US" sz="4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B3FBE-0E5D-C811-D91A-A586AF8068B2}"/>
              </a:ext>
            </a:extLst>
          </p:cNvPr>
          <p:cNvSpPr txBox="1"/>
          <p:nvPr/>
        </p:nvSpPr>
        <p:spPr>
          <a:xfrm>
            <a:off x="6669502" y="2612014"/>
            <a:ext cx="1014803" cy="73866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200" b="1" dirty="0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ko-KR" altLang="en-US" sz="4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532FB-8448-DDFC-E324-ECA8FA7BD338}"/>
              </a:ext>
            </a:extLst>
          </p:cNvPr>
          <p:cNvSpPr txBox="1"/>
          <p:nvPr/>
        </p:nvSpPr>
        <p:spPr>
          <a:xfrm>
            <a:off x="6669503" y="3707016"/>
            <a:ext cx="1014803" cy="73866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200" b="1" dirty="0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ko-KR" altLang="en-US" sz="4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87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A67F-9FE3-949B-0BFA-0706C113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99058F3-A610-7482-9FFC-A9A36121E68C}"/>
              </a:ext>
            </a:extLst>
          </p:cNvPr>
          <p:cNvSpPr txBox="1"/>
          <p:nvPr/>
        </p:nvSpPr>
        <p:spPr>
          <a:xfrm>
            <a:off x="1811272" y="2078711"/>
            <a:ext cx="85694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01 </a:t>
            </a:r>
          </a:p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WHAT IS GIT?</a:t>
            </a:r>
          </a:p>
        </p:txBody>
      </p:sp>
      <p:pic>
        <p:nvPicPr>
          <p:cNvPr id="2" name="Google Shape;311;p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AC0D66-9C70-022A-CBCF-211647A873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5693" y="4677623"/>
            <a:ext cx="4720614" cy="1306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4588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6230373-CD80-84A6-4DA7-08606668DCC7}"/>
              </a:ext>
            </a:extLst>
          </p:cNvPr>
          <p:cNvSpPr txBox="1"/>
          <p:nvPr/>
        </p:nvSpPr>
        <p:spPr>
          <a:xfrm>
            <a:off x="375312" y="78519"/>
            <a:ext cx="951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WHAT IS GIT?</a:t>
            </a:r>
          </a:p>
        </p:txBody>
      </p:sp>
      <p:pic>
        <p:nvPicPr>
          <p:cNvPr id="3" name="Google Shape;228;p1" descr="Git - Logo Downloads">
            <a:extLst>
              <a:ext uri="{FF2B5EF4-FFF2-40B4-BE49-F238E27FC236}">
                <a16:creationId xmlns:a16="http://schemas.microsoft.com/office/drawing/2014/main" id="{D6527045-08C3-D479-4F35-A5A5D6457E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044711"/>
            <a:ext cx="4363812" cy="13842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0EE8C6-E1F0-A55D-D935-97F473E64704}"/>
              </a:ext>
            </a:extLst>
          </p:cNvPr>
          <p:cNvSpPr txBox="1"/>
          <p:nvPr/>
        </p:nvSpPr>
        <p:spPr>
          <a:xfrm>
            <a:off x="4208926" y="1244810"/>
            <a:ext cx="7579951" cy="256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2200" b="1" dirty="0">
                <a:latin typeface="Arial" panose="020B0604020202020204" pitchFamily="34" charset="0"/>
                <a:cs typeface="Arial" panose="020B0604020202020204" pitchFamily="34" charset="0"/>
              </a:rPr>
              <a:t>Command </a:t>
            </a: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used in </a:t>
            </a:r>
            <a:r>
              <a:rPr lang="en-MY" sz="2200" b="1" dirty="0">
                <a:latin typeface="Arial" panose="020B0604020202020204" pitchFamily="34" charset="0"/>
                <a:cs typeface="Arial" panose="020B0604020202020204" pitchFamily="34" charset="0"/>
              </a:rPr>
              <a:t>Version Control System (VCS)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2200" b="1" dirty="0">
                <a:latin typeface="Arial" panose="020B0604020202020204" pitchFamily="34" charset="0"/>
                <a:cs typeface="Arial" panose="020B0604020202020204" pitchFamily="34" charset="0"/>
              </a:rPr>
              <a:t>Set of commands </a:t>
            </a: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that users can </a:t>
            </a:r>
            <a:r>
              <a:rPr lang="en-MY" sz="2200" b="1" dirty="0">
                <a:latin typeface="Arial" panose="020B0604020202020204" pitchFamily="34" charset="0"/>
                <a:cs typeface="Arial" panose="020B0604020202020204" pitchFamily="34" charset="0"/>
              </a:rPr>
              <a:t>use to perform various version control tasks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Version control tasks : make copy of file, changes in file, file status, file history etc</a:t>
            </a:r>
          </a:p>
        </p:txBody>
      </p:sp>
      <p:pic>
        <p:nvPicPr>
          <p:cNvPr id="5" name="Google Shape;756;g12e9cb7253d_3_0" descr="Unité Add a Salesforce DX Project to Source Control | Salesforce">
            <a:extLst>
              <a:ext uri="{FF2B5EF4-FFF2-40B4-BE49-F238E27FC236}">
                <a16:creationId xmlns:a16="http://schemas.microsoft.com/office/drawing/2014/main" id="{E2BA3B9A-F21B-C2E9-0FA5-B03FE5DFBE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650" t="57676" r="1853" b="11611"/>
          <a:stretch/>
        </p:blipFill>
        <p:spPr>
          <a:xfrm>
            <a:off x="1612489" y="4505235"/>
            <a:ext cx="9379975" cy="16606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705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A67F-9FE3-949B-0BFA-0706C113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99058F3-A610-7482-9FFC-A9A36121E68C}"/>
              </a:ext>
            </a:extLst>
          </p:cNvPr>
          <p:cNvSpPr txBox="1"/>
          <p:nvPr/>
        </p:nvSpPr>
        <p:spPr>
          <a:xfrm>
            <a:off x="1811272" y="1311795"/>
            <a:ext cx="85694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02 </a:t>
            </a:r>
          </a:p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GIT WORKFLOW &amp; FUNDAMENTAL GIT CONCEPT </a:t>
            </a:r>
          </a:p>
        </p:txBody>
      </p:sp>
      <p:pic>
        <p:nvPicPr>
          <p:cNvPr id="2" name="Google Shape;311;p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AC0D66-9C70-022A-CBCF-211647A873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5693" y="4677623"/>
            <a:ext cx="4720614" cy="1306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117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782;g12f2034a691_9_2">
            <a:extLst>
              <a:ext uri="{FF2B5EF4-FFF2-40B4-BE49-F238E27FC236}">
                <a16:creationId xmlns:a16="http://schemas.microsoft.com/office/drawing/2014/main" id="{FDF9B206-5B1F-B99F-19C8-08C690E1E87E}"/>
              </a:ext>
            </a:extLst>
          </p:cNvPr>
          <p:cNvCxnSpPr/>
          <p:nvPr/>
        </p:nvCxnSpPr>
        <p:spPr>
          <a:xfrm>
            <a:off x="565150" y="6087110"/>
            <a:ext cx="11058300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oogle Shape;783;g12f2034a691_9_2" descr="Unité Add a Salesforce DX Project to Source Control | Salesforce">
            <a:extLst>
              <a:ext uri="{FF2B5EF4-FFF2-40B4-BE49-F238E27FC236}">
                <a16:creationId xmlns:a16="http://schemas.microsoft.com/office/drawing/2014/main" id="{BD272E6C-F589-6377-5E2C-68EDE0DB2D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871" y="391095"/>
            <a:ext cx="9720457" cy="54067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84;g12f2034a691_9_2">
            <a:extLst>
              <a:ext uri="{FF2B5EF4-FFF2-40B4-BE49-F238E27FC236}">
                <a16:creationId xmlns:a16="http://schemas.microsoft.com/office/drawing/2014/main" id="{741174C4-9FD3-0204-C696-65F24E517D14}"/>
              </a:ext>
            </a:extLst>
          </p:cNvPr>
          <p:cNvSpPr/>
          <p:nvPr/>
        </p:nvSpPr>
        <p:spPr>
          <a:xfrm>
            <a:off x="3763175" y="2542700"/>
            <a:ext cx="6204300" cy="321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85;g12f2034a691_9_2">
            <a:extLst>
              <a:ext uri="{FF2B5EF4-FFF2-40B4-BE49-F238E27FC236}">
                <a16:creationId xmlns:a16="http://schemas.microsoft.com/office/drawing/2014/main" id="{B2F8F543-8CCB-C7FA-EE34-9BCD5B7CD059}"/>
              </a:ext>
            </a:extLst>
          </p:cNvPr>
          <p:cNvSpPr txBox="1"/>
          <p:nvPr/>
        </p:nvSpPr>
        <p:spPr>
          <a:xfrm>
            <a:off x="508550" y="3592705"/>
            <a:ext cx="23682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200"/>
              <a:t>Your Machine</a:t>
            </a:r>
            <a:endParaRPr sz="2200"/>
          </a:p>
        </p:txBody>
      </p:sp>
      <p:pic>
        <p:nvPicPr>
          <p:cNvPr id="6" name="Google Shape;788;g12f2034a691_9_2">
            <a:extLst>
              <a:ext uri="{FF2B5EF4-FFF2-40B4-BE49-F238E27FC236}">
                <a16:creationId xmlns:a16="http://schemas.microsoft.com/office/drawing/2014/main" id="{C884D4D7-B17E-AA35-B5AD-C6E411D11E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75" y="3747675"/>
            <a:ext cx="2656925" cy="265692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1;g12f2034a691_9_2">
            <a:extLst>
              <a:ext uri="{FF2B5EF4-FFF2-40B4-BE49-F238E27FC236}">
                <a16:creationId xmlns:a16="http://schemas.microsoft.com/office/drawing/2014/main" id="{23A9185B-DC16-7D2D-7AFD-920758897CC7}"/>
              </a:ext>
            </a:extLst>
          </p:cNvPr>
          <p:cNvSpPr txBox="1"/>
          <p:nvPr/>
        </p:nvSpPr>
        <p:spPr>
          <a:xfrm>
            <a:off x="960700" y="6212955"/>
            <a:ext cx="23682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200"/>
              <a:t>Programmer</a:t>
            </a:r>
            <a:endParaRPr sz="2200"/>
          </a:p>
        </p:txBody>
      </p:sp>
      <p:pic>
        <p:nvPicPr>
          <p:cNvPr id="8" name="Google Shape;792;g12f2034a691_9_2">
            <a:extLst>
              <a:ext uri="{FF2B5EF4-FFF2-40B4-BE49-F238E27FC236}">
                <a16:creationId xmlns:a16="http://schemas.microsoft.com/office/drawing/2014/main" id="{16810D99-7CAD-9638-E9C8-3F6F37579B1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1575" y="2430473"/>
            <a:ext cx="1178560" cy="492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350F0CA-28BA-48FE-24CD-EBF7274717F1}"/>
              </a:ext>
            </a:extLst>
          </p:cNvPr>
          <p:cNvGrpSpPr/>
          <p:nvPr/>
        </p:nvGrpSpPr>
        <p:grpSpPr>
          <a:xfrm>
            <a:off x="5973550" y="900900"/>
            <a:ext cx="4017505" cy="1163487"/>
            <a:chOff x="5973550" y="900900"/>
            <a:chExt cx="4017505" cy="1163487"/>
          </a:xfrm>
        </p:grpSpPr>
        <p:grpSp>
          <p:nvGrpSpPr>
            <p:cNvPr id="10" name="Google Shape;794;g12f2034a691_9_2">
              <a:extLst>
                <a:ext uri="{FF2B5EF4-FFF2-40B4-BE49-F238E27FC236}">
                  <a16:creationId xmlns:a16="http://schemas.microsoft.com/office/drawing/2014/main" id="{3CC7736C-81E7-1943-F1E4-7E1282E66E5C}"/>
                </a:ext>
              </a:extLst>
            </p:cNvPr>
            <p:cNvGrpSpPr/>
            <p:nvPr/>
          </p:nvGrpSpPr>
          <p:grpSpPr>
            <a:xfrm>
              <a:off x="5973550" y="900912"/>
              <a:ext cx="538850" cy="1163475"/>
              <a:chOff x="5866325" y="870050"/>
              <a:chExt cx="538850" cy="1163475"/>
            </a:xfrm>
          </p:grpSpPr>
          <p:pic>
            <p:nvPicPr>
              <p:cNvPr id="13" name="Google Shape;795;g12f2034a691_9_2">
                <a:extLst>
                  <a:ext uri="{FF2B5EF4-FFF2-40B4-BE49-F238E27FC236}">
                    <a16:creationId xmlns:a16="http://schemas.microsoft.com/office/drawing/2014/main" id="{85607790-E194-4164-1929-98A4092ECF08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866325" y="870050"/>
                <a:ext cx="523200" cy="523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796;g12f2034a691_9_2">
                <a:extLst>
                  <a:ext uri="{FF2B5EF4-FFF2-40B4-BE49-F238E27FC236}">
                    <a16:creationId xmlns:a16="http://schemas.microsoft.com/office/drawing/2014/main" id="{90F70AC1-5969-4E7B-C792-D4DD14CC1CAE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881975" y="1510325"/>
                <a:ext cx="523200" cy="523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1" name="Google Shape;804;g12f2034a691_9_2">
              <a:extLst>
                <a:ext uri="{FF2B5EF4-FFF2-40B4-BE49-F238E27FC236}">
                  <a16:creationId xmlns:a16="http://schemas.microsoft.com/office/drawing/2014/main" id="{6BD7B0A9-C17C-D171-0B76-99806C8891B8}"/>
                </a:ext>
              </a:extLst>
            </p:cNvPr>
            <p:cNvSpPr txBox="1"/>
            <p:nvPr/>
          </p:nvSpPr>
          <p:spPr>
            <a:xfrm>
              <a:off x="6701855" y="900900"/>
              <a:ext cx="3289200" cy="492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2000" dirty="0"/>
                <a:t>README.MD</a:t>
              </a:r>
              <a:endParaRPr sz="2000" dirty="0"/>
            </a:p>
          </p:txBody>
        </p:sp>
        <p:sp>
          <p:nvSpPr>
            <p:cNvPr id="12" name="Google Shape;808;g12f2034a691_9_2">
              <a:extLst>
                <a:ext uri="{FF2B5EF4-FFF2-40B4-BE49-F238E27FC236}">
                  <a16:creationId xmlns:a16="http://schemas.microsoft.com/office/drawing/2014/main" id="{2BAA71C5-676F-3F2F-7C49-B1552482E223}"/>
                </a:ext>
              </a:extLst>
            </p:cNvPr>
            <p:cNvSpPr txBox="1"/>
            <p:nvPr/>
          </p:nvSpPr>
          <p:spPr>
            <a:xfrm>
              <a:off x="6684505" y="1545600"/>
              <a:ext cx="3289200" cy="492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2000" b="1" dirty="0" err="1">
                  <a:solidFill>
                    <a:srgbClr val="FF0000"/>
                  </a:solidFill>
                </a:rPr>
                <a:t>helloworld.c</a:t>
              </a:r>
              <a:endParaRPr sz="20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5" name="Google Shape;812;g12f2034a691_9_2">
            <a:extLst>
              <a:ext uri="{FF2B5EF4-FFF2-40B4-BE49-F238E27FC236}">
                <a16:creationId xmlns:a16="http://schemas.microsoft.com/office/drawing/2014/main" id="{B2ED2BF8-5DFE-9917-C043-B791DE95512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1094" y="3153312"/>
            <a:ext cx="1178560" cy="492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7A6889C-C15B-E3A0-D6C8-A30548D93D02}"/>
              </a:ext>
            </a:extLst>
          </p:cNvPr>
          <p:cNvGrpSpPr/>
          <p:nvPr/>
        </p:nvGrpSpPr>
        <p:grpSpPr>
          <a:xfrm>
            <a:off x="2664773" y="3808275"/>
            <a:ext cx="4890802" cy="687076"/>
            <a:chOff x="2664773" y="3808275"/>
            <a:chExt cx="4890802" cy="687076"/>
          </a:xfrm>
        </p:grpSpPr>
        <p:pic>
          <p:nvPicPr>
            <p:cNvPr id="17" name="Google Shape;786;g12f2034a691_9_2">
              <a:extLst>
                <a:ext uri="{FF2B5EF4-FFF2-40B4-BE49-F238E27FC236}">
                  <a16:creationId xmlns:a16="http://schemas.microsoft.com/office/drawing/2014/main" id="{03519172-B34E-CB13-F37D-F80A91C5BD1D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159801" y="3808275"/>
              <a:ext cx="687076" cy="6870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787;g12f2034a691_9_2">
              <a:extLst>
                <a:ext uri="{FF2B5EF4-FFF2-40B4-BE49-F238E27FC236}">
                  <a16:creationId xmlns:a16="http://schemas.microsoft.com/office/drawing/2014/main" id="{B29D2794-BA7B-E183-8534-F6FB6CBC4819}"/>
                </a:ext>
              </a:extLst>
            </p:cNvPr>
            <p:cNvSpPr txBox="1"/>
            <p:nvPr/>
          </p:nvSpPr>
          <p:spPr>
            <a:xfrm>
              <a:off x="4053675" y="3905525"/>
              <a:ext cx="3501900" cy="492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2000" dirty="0"/>
                <a:t>Folder/Repo: </a:t>
              </a:r>
              <a:r>
                <a:rPr lang="en-MY" sz="2000" dirty="0" err="1"/>
                <a:t>GitHubProject</a:t>
              </a:r>
              <a:endParaRPr sz="2000" dirty="0"/>
            </a:p>
          </p:txBody>
        </p:sp>
        <p:sp>
          <p:nvSpPr>
            <p:cNvPr id="19" name="Heptagon 18">
              <a:extLst>
                <a:ext uri="{FF2B5EF4-FFF2-40B4-BE49-F238E27FC236}">
                  <a16:creationId xmlns:a16="http://schemas.microsoft.com/office/drawing/2014/main" id="{C3A713DA-3E17-2D96-A608-B6C796553DB6}"/>
                </a:ext>
              </a:extLst>
            </p:cNvPr>
            <p:cNvSpPr/>
            <p:nvPr/>
          </p:nvSpPr>
          <p:spPr>
            <a:xfrm>
              <a:off x="2664773" y="3976929"/>
              <a:ext cx="393320" cy="342742"/>
            </a:xfrm>
            <a:prstGeom prst="hep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492384-E477-BC5B-F79A-9F25FA131168}"/>
              </a:ext>
            </a:extLst>
          </p:cNvPr>
          <p:cNvGrpSpPr/>
          <p:nvPr/>
        </p:nvGrpSpPr>
        <p:grpSpPr>
          <a:xfrm>
            <a:off x="5355600" y="134027"/>
            <a:ext cx="4824575" cy="736024"/>
            <a:chOff x="5355600" y="134027"/>
            <a:chExt cx="4824575" cy="736024"/>
          </a:xfrm>
        </p:grpSpPr>
        <p:pic>
          <p:nvPicPr>
            <p:cNvPr id="21" name="Google Shape;789;g12f2034a691_9_2">
              <a:extLst>
                <a:ext uri="{FF2B5EF4-FFF2-40B4-BE49-F238E27FC236}">
                  <a16:creationId xmlns:a16="http://schemas.microsoft.com/office/drawing/2014/main" id="{1BBB0160-2A3B-319F-EFC0-F758B28FF647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84401" y="182975"/>
              <a:ext cx="687076" cy="6870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790;g12f2034a691_9_2">
              <a:extLst>
                <a:ext uri="{FF2B5EF4-FFF2-40B4-BE49-F238E27FC236}">
                  <a16:creationId xmlns:a16="http://schemas.microsoft.com/office/drawing/2014/main" id="{A479BD20-E82B-D835-F91D-2655F4A7E424}"/>
                </a:ext>
              </a:extLst>
            </p:cNvPr>
            <p:cNvSpPr txBox="1"/>
            <p:nvPr/>
          </p:nvSpPr>
          <p:spPr>
            <a:xfrm>
              <a:off x="6678275" y="280225"/>
              <a:ext cx="3501900" cy="492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2000" dirty="0"/>
                <a:t>Folder/Repo: </a:t>
              </a:r>
              <a:r>
                <a:rPr lang="en-MY" sz="2000" dirty="0" err="1"/>
                <a:t>GitHubProject</a:t>
              </a:r>
              <a:endParaRPr sz="2000" dirty="0"/>
            </a:p>
          </p:txBody>
        </p:sp>
        <p:sp>
          <p:nvSpPr>
            <p:cNvPr id="23" name="Heptagon 22">
              <a:extLst>
                <a:ext uri="{FF2B5EF4-FFF2-40B4-BE49-F238E27FC236}">
                  <a16:creationId xmlns:a16="http://schemas.microsoft.com/office/drawing/2014/main" id="{F2EA5FF7-8EFB-444F-0803-3067A568C17E}"/>
                </a:ext>
              </a:extLst>
            </p:cNvPr>
            <p:cNvSpPr/>
            <p:nvPr/>
          </p:nvSpPr>
          <p:spPr>
            <a:xfrm>
              <a:off x="5355600" y="134027"/>
              <a:ext cx="393320" cy="342742"/>
            </a:xfrm>
            <a:prstGeom prst="hep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603653-91FA-26B4-144F-475A93FE4CF0}"/>
              </a:ext>
            </a:extLst>
          </p:cNvPr>
          <p:cNvGrpSpPr/>
          <p:nvPr/>
        </p:nvGrpSpPr>
        <p:grpSpPr>
          <a:xfrm>
            <a:off x="3265300" y="4472039"/>
            <a:ext cx="4101155" cy="1181948"/>
            <a:chOff x="3265300" y="4472039"/>
            <a:chExt cx="4101155" cy="118194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3D4B725-0B18-042D-802B-6C8B03B42FD8}"/>
                </a:ext>
              </a:extLst>
            </p:cNvPr>
            <p:cNvGrpSpPr/>
            <p:nvPr/>
          </p:nvGrpSpPr>
          <p:grpSpPr>
            <a:xfrm>
              <a:off x="3265300" y="4526200"/>
              <a:ext cx="4101155" cy="1127787"/>
              <a:chOff x="3265300" y="4526200"/>
              <a:chExt cx="4101155" cy="1127787"/>
            </a:xfrm>
          </p:grpSpPr>
          <p:pic>
            <p:nvPicPr>
              <p:cNvPr id="27" name="Google Shape;798;g12f2034a691_9_2">
                <a:extLst>
                  <a:ext uri="{FF2B5EF4-FFF2-40B4-BE49-F238E27FC236}">
                    <a16:creationId xmlns:a16="http://schemas.microsoft.com/office/drawing/2014/main" id="{B505F2F2-46C6-2B1B-CC4D-42B644725955}"/>
                  </a:ext>
                </a:extLst>
              </p:cNvPr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3276325" y="4557912"/>
                <a:ext cx="523200" cy="523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" name="Google Shape;800;g12f2034a691_9_2">
                <a:extLst>
                  <a:ext uri="{FF2B5EF4-FFF2-40B4-BE49-F238E27FC236}">
                    <a16:creationId xmlns:a16="http://schemas.microsoft.com/office/drawing/2014/main" id="{611ADC2A-440D-5964-2294-6F6E1A36A94B}"/>
                  </a:ext>
                </a:extLst>
              </p:cNvPr>
              <p:cNvSpPr txBox="1"/>
              <p:nvPr/>
            </p:nvSpPr>
            <p:spPr>
              <a:xfrm>
                <a:off x="4077255" y="4526200"/>
                <a:ext cx="3289200" cy="492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MY" sz="2000" dirty="0"/>
                  <a:t>README.MD</a:t>
                </a:r>
                <a:endParaRPr sz="2000" dirty="0"/>
              </a:p>
            </p:txBody>
          </p:sp>
          <p:grpSp>
            <p:nvGrpSpPr>
              <p:cNvPr id="29" name="Google Shape;801;g12f2034a691_9_2">
                <a:extLst>
                  <a:ext uri="{FF2B5EF4-FFF2-40B4-BE49-F238E27FC236}">
                    <a16:creationId xmlns:a16="http://schemas.microsoft.com/office/drawing/2014/main" id="{269D4D83-6080-25BE-1A5B-2C053A38DB7B}"/>
                  </a:ext>
                </a:extLst>
              </p:cNvPr>
              <p:cNvGrpSpPr/>
              <p:nvPr/>
            </p:nvGrpSpPr>
            <p:grpSpPr>
              <a:xfrm>
                <a:off x="3265300" y="5116025"/>
                <a:ext cx="4101155" cy="537962"/>
                <a:chOff x="3241725" y="5085163"/>
                <a:chExt cx="4101155" cy="537962"/>
              </a:xfrm>
            </p:grpSpPr>
            <p:pic>
              <p:nvPicPr>
                <p:cNvPr id="30" name="Google Shape;802;g12f2034a691_9_2">
                  <a:extLst>
                    <a:ext uri="{FF2B5EF4-FFF2-40B4-BE49-F238E27FC236}">
                      <a16:creationId xmlns:a16="http://schemas.microsoft.com/office/drawing/2014/main" id="{1A9EF90C-2659-CF29-A6E6-E95F718463E1}"/>
                    </a:ext>
                  </a:extLst>
                </p:cNvPr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241725" y="5099925"/>
                  <a:ext cx="5232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1" name="Google Shape;803;g12f2034a691_9_2">
                  <a:extLst>
                    <a:ext uri="{FF2B5EF4-FFF2-40B4-BE49-F238E27FC236}">
                      <a16:creationId xmlns:a16="http://schemas.microsoft.com/office/drawing/2014/main" id="{AAEBF726-FEAA-282A-06A2-0CF17440270C}"/>
                    </a:ext>
                  </a:extLst>
                </p:cNvPr>
                <p:cNvSpPr txBox="1"/>
                <p:nvPr/>
              </p:nvSpPr>
              <p:spPr>
                <a:xfrm>
                  <a:off x="4053680" y="5085163"/>
                  <a:ext cx="3289200" cy="4926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MY" sz="2000" b="1" dirty="0" err="1">
                      <a:solidFill>
                        <a:srgbClr val="FF0000"/>
                      </a:solidFill>
                    </a:rPr>
                    <a:t>helloworld.c</a:t>
                  </a:r>
                  <a:endParaRPr sz="2000" b="1" dirty="0">
                    <a:solidFill>
                      <a:srgbClr val="FF0000"/>
                    </a:solidFill>
                  </a:endParaRPr>
                </a:p>
              </p:txBody>
            </p:sp>
          </p:grpSp>
        </p:grpSp>
        <p:sp>
          <p:nvSpPr>
            <p:cNvPr id="26" name="Heptagon 25">
              <a:extLst>
                <a:ext uri="{FF2B5EF4-FFF2-40B4-BE49-F238E27FC236}">
                  <a16:creationId xmlns:a16="http://schemas.microsoft.com/office/drawing/2014/main" id="{AEE07F29-A26E-107B-2A5F-5229DA3D5C1F}"/>
                </a:ext>
              </a:extLst>
            </p:cNvPr>
            <p:cNvSpPr/>
            <p:nvPr/>
          </p:nvSpPr>
          <p:spPr>
            <a:xfrm>
              <a:off x="5989200" y="4472039"/>
              <a:ext cx="393320" cy="342742"/>
            </a:xfrm>
            <a:prstGeom prst="hep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740B9BE-719F-17EE-44E4-BEE1279704B2}"/>
              </a:ext>
            </a:extLst>
          </p:cNvPr>
          <p:cNvGrpSpPr/>
          <p:nvPr/>
        </p:nvGrpSpPr>
        <p:grpSpPr>
          <a:xfrm>
            <a:off x="3417200" y="5699994"/>
            <a:ext cx="2254919" cy="800189"/>
            <a:chOff x="3417200" y="5699994"/>
            <a:chExt cx="2254919" cy="800189"/>
          </a:xfrm>
        </p:grpSpPr>
        <p:sp>
          <p:nvSpPr>
            <p:cNvPr id="33" name="Google Shape;803;g12f2034a691_9_2">
              <a:extLst>
                <a:ext uri="{FF2B5EF4-FFF2-40B4-BE49-F238E27FC236}">
                  <a16:creationId xmlns:a16="http://schemas.microsoft.com/office/drawing/2014/main" id="{172AB2CC-5E46-F556-9025-BF0E1FBEA62E}"/>
                </a:ext>
              </a:extLst>
            </p:cNvPr>
            <p:cNvSpPr txBox="1"/>
            <p:nvPr/>
          </p:nvSpPr>
          <p:spPr>
            <a:xfrm>
              <a:off x="3834949" y="5699994"/>
              <a:ext cx="1837170" cy="800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CLI : </a:t>
              </a:r>
            </a:p>
            <a:p>
              <a:pPr marL="342900" lvl="0" indent="-34290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MY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git init</a:t>
              </a:r>
              <a:endParaRPr sz="20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4" name="Heptagon 33">
              <a:extLst>
                <a:ext uri="{FF2B5EF4-FFF2-40B4-BE49-F238E27FC236}">
                  <a16:creationId xmlns:a16="http://schemas.microsoft.com/office/drawing/2014/main" id="{880FBADD-C4BE-9F0C-E8D1-0C956EADBC19}"/>
                </a:ext>
              </a:extLst>
            </p:cNvPr>
            <p:cNvSpPr/>
            <p:nvPr/>
          </p:nvSpPr>
          <p:spPr>
            <a:xfrm>
              <a:off x="3417200" y="5778145"/>
              <a:ext cx="393320" cy="342742"/>
            </a:xfrm>
            <a:prstGeom prst="hep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4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5FDC9B1-F38B-4268-B2F0-EDAAC35AE5E6}"/>
              </a:ext>
            </a:extLst>
          </p:cNvPr>
          <p:cNvGrpSpPr/>
          <p:nvPr/>
        </p:nvGrpSpPr>
        <p:grpSpPr>
          <a:xfrm>
            <a:off x="7826815" y="4497189"/>
            <a:ext cx="3821064" cy="2031295"/>
            <a:chOff x="7901145" y="4326533"/>
            <a:chExt cx="3821064" cy="2031295"/>
          </a:xfrm>
        </p:grpSpPr>
        <p:sp>
          <p:nvSpPr>
            <p:cNvPr id="36" name="Heptagon 35">
              <a:extLst>
                <a:ext uri="{FF2B5EF4-FFF2-40B4-BE49-F238E27FC236}">
                  <a16:creationId xmlns:a16="http://schemas.microsoft.com/office/drawing/2014/main" id="{51D69AFA-BD0D-98B1-01B7-C2AD5382B968}"/>
                </a:ext>
              </a:extLst>
            </p:cNvPr>
            <p:cNvSpPr/>
            <p:nvPr/>
          </p:nvSpPr>
          <p:spPr>
            <a:xfrm>
              <a:off x="7901145" y="4384178"/>
              <a:ext cx="393320" cy="342742"/>
            </a:xfrm>
            <a:prstGeom prst="hep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5</a:t>
              </a:r>
            </a:p>
          </p:txBody>
        </p:sp>
        <p:sp>
          <p:nvSpPr>
            <p:cNvPr id="37" name="Google Shape;803;g12f2034a691_9_2">
              <a:extLst>
                <a:ext uri="{FF2B5EF4-FFF2-40B4-BE49-F238E27FC236}">
                  <a16:creationId xmlns:a16="http://schemas.microsoft.com/office/drawing/2014/main" id="{DB63A866-5E5C-CBA3-E0DA-0B8A805F7DA1}"/>
                </a:ext>
              </a:extLst>
            </p:cNvPr>
            <p:cNvSpPr txBox="1"/>
            <p:nvPr/>
          </p:nvSpPr>
          <p:spPr>
            <a:xfrm>
              <a:off x="8378899" y="4326533"/>
              <a:ext cx="3343310" cy="2031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CLI : </a:t>
              </a:r>
            </a:p>
            <a:p>
              <a:pPr marL="342900" lvl="0" indent="-34290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MY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git status</a:t>
              </a:r>
            </a:p>
            <a:p>
              <a:pPr marL="342900" lvl="0" indent="-34290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MY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git add –A / git add . (All Files) @ git add [filename] (Single Files)</a:t>
              </a:r>
            </a:p>
            <a:p>
              <a:pPr marL="342900" lvl="0" indent="-34290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sz="20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9293275-D621-7755-63AC-DC20F8FD0651}"/>
              </a:ext>
            </a:extLst>
          </p:cNvPr>
          <p:cNvGrpSpPr/>
          <p:nvPr/>
        </p:nvGrpSpPr>
        <p:grpSpPr>
          <a:xfrm>
            <a:off x="7776905" y="3096766"/>
            <a:ext cx="4237535" cy="1107965"/>
            <a:chOff x="7776905" y="3096766"/>
            <a:chExt cx="4237535" cy="1107965"/>
          </a:xfrm>
        </p:grpSpPr>
        <p:sp>
          <p:nvSpPr>
            <p:cNvPr id="39" name="Heptagon 38">
              <a:extLst>
                <a:ext uri="{FF2B5EF4-FFF2-40B4-BE49-F238E27FC236}">
                  <a16:creationId xmlns:a16="http://schemas.microsoft.com/office/drawing/2014/main" id="{6D023968-1874-CABE-FD2D-B3A886774EE1}"/>
                </a:ext>
              </a:extLst>
            </p:cNvPr>
            <p:cNvSpPr/>
            <p:nvPr/>
          </p:nvSpPr>
          <p:spPr>
            <a:xfrm>
              <a:off x="7776905" y="3137450"/>
              <a:ext cx="393320" cy="342742"/>
            </a:xfrm>
            <a:prstGeom prst="hep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6</a:t>
              </a:r>
            </a:p>
          </p:txBody>
        </p:sp>
        <p:sp>
          <p:nvSpPr>
            <p:cNvPr id="40" name="Google Shape;803;g12f2034a691_9_2">
              <a:extLst>
                <a:ext uri="{FF2B5EF4-FFF2-40B4-BE49-F238E27FC236}">
                  <a16:creationId xmlns:a16="http://schemas.microsoft.com/office/drawing/2014/main" id="{7759BBA0-24E2-59C2-9A7D-C4A78B1346F3}"/>
                </a:ext>
              </a:extLst>
            </p:cNvPr>
            <p:cNvSpPr txBox="1"/>
            <p:nvPr/>
          </p:nvSpPr>
          <p:spPr>
            <a:xfrm>
              <a:off x="8285871" y="3096766"/>
              <a:ext cx="3728569" cy="1107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CLI : </a:t>
              </a:r>
            </a:p>
            <a:p>
              <a:pPr marL="342900" lvl="0" indent="-34290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MY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git commit –m “message”</a:t>
              </a:r>
            </a:p>
            <a:p>
              <a:pPr marL="342900" lvl="0" indent="-34290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sz="20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F4C7C3D-976B-87DF-2BF8-BE929F24EAE8}"/>
              </a:ext>
            </a:extLst>
          </p:cNvPr>
          <p:cNvGrpSpPr/>
          <p:nvPr/>
        </p:nvGrpSpPr>
        <p:grpSpPr>
          <a:xfrm>
            <a:off x="8638561" y="1390756"/>
            <a:ext cx="2979346" cy="1107965"/>
            <a:chOff x="8638561" y="1390756"/>
            <a:chExt cx="2979346" cy="1107965"/>
          </a:xfrm>
        </p:grpSpPr>
        <p:sp>
          <p:nvSpPr>
            <p:cNvPr id="43" name="Heptagon 42">
              <a:extLst>
                <a:ext uri="{FF2B5EF4-FFF2-40B4-BE49-F238E27FC236}">
                  <a16:creationId xmlns:a16="http://schemas.microsoft.com/office/drawing/2014/main" id="{A5DE7F16-44CB-5DF1-348D-C1C2F7CAB2A1}"/>
                </a:ext>
              </a:extLst>
            </p:cNvPr>
            <p:cNvSpPr/>
            <p:nvPr/>
          </p:nvSpPr>
          <p:spPr>
            <a:xfrm>
              <a:off x="8638561" y="1465758"/>
              <a:ext cx="393320" cy="342742"/>
            </a:xfrm>
            <a:prstGeom prst="hept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7</a:t>
              </a:r>
            </a:p>
          </p:txBody>
        </p:sp>
        <p:sp>
          <p:nvSpPr>
            <p:cNvPr id="44" name="Google Shape;803;g12f2034a691_9_2">
              <a:extLst>
                <a:ext uri="{FF2B5EF4-FFF2-40B4-BE49-F238E27FC236}">
                  <a16:creationId xmlns:a16="http://schemas.microsoft.com/office/drawing/2014/main" id="{4828FE1A-04F5-2F30-E2DA-EC6148C76926}"/>
                </a:ext>
              </a:extLst>
            </p:cNvPr>
            <p:cNvSpPr txBox="1"/>
            <p:nvPr/>
          </p:nvSpPr>
          <p:spPr>
            <a:xfrm>
              <a:off x="9132290" y="1390756"/>
              <a:ext cx="2485617" cy="1107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MY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CLI : </a:t>
              </a:r>
            </a:p>
            <a:p>
              <a:pPr marL="342900" lvl="0" indent="-34290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MY" sz="2000" b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git push</a:t>
              </a:r>
            </a:p>
            <a:p>
              <a:pPr marL="342900" lvl="0" indent="-34290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sz="20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AAC34D0-2AD2-9CCD-4344-131B6F7031EE}"/>
              </a:ext>
            </a:extLst>
          </p:cNvPr>
          <p:cNvGrpSpPr/>
          <p:nvPr/>
        </p:nvGrpSpPr>
        <p:grpSpPr>
          <a:xfrm>
            <a:off x="3176500" y="900912"/>
            <a:ext cx="5352850" cy="4753300"/>
            <a:chOff x="3176500" y="900912"/>
            <a:chExt cx="5352850" cy="475330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08F5A1A-58D9-6358-CFEE-78CF3DA9CCD2}"/>
                </a:ext>
              </a:extLst>
            </p:cNvPr>
            <p:cNvGrpSpPr/>
            <p:nvPr/>
          </p:nvGrpSpPr>
          <p:grpSpPr>
            <a:xfrm>
              <a:off x="3176500" y="900912"/>
              <a:ext cx="5352850" cy="4753300"/>
              <a:chOff x="3176500" y="900912"/>
              <a:chExt cx="5352850" cy="4753300"/>
            </a:xfrm>
          </p:grpSpPr>
          <p:sp>
            <p:nvSpPr>
              <p:cNvPr id="48" name="Google Shape;809;g12f2034a691_9_2">
                <a:extLst>
                  <a:ext uri="{FF2B5EF4-FFF2-40B4-BE49-F238E27FC236}">
                    <a16:creationId xmlns:a16="http://schemas.microsoft.com/office/drawing/2014/main" id="{59721D85-8832-9025-A503-8ECB36A9B341}"/>
                  </a:ext>
                </a:extLst>
              </p:cNvPr>
              <p:cNvSpPr/>
              <p:nvPr/>
            </p:nvSpPr>
            <p:spPr>
              <a:xfrm>
                <a:off x="5872550" y="900912"/>
                <a:ext cx="2656800" cy="1170900"/>
              </a:xfrm>
              <a:prstGeom prst="rect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810;g12f2034a691_9_2">
                <a:extLst>
                  <a:ext uri="{FF2B5EF4-FFF2-40B4-BE49-F238E27FC236}">
                    <a16:creationId xmlns:a16="http://schemas.microsoft.com/office/drawing/2014/main" id="{9703DAFC-9E82-3629-03AC-E813B17F3F37}"/>
                  </a:ext>
                </a:extLst>
              </p:cNvPr>
              <p:cNvCxnSpPr/>
              <p:nvPr/>
            </p:nvCxnSpPr>
            <p:spPr>
              <a:xfrm rot="10800000">
                <a:off x="7608200" y="2071837"/>
                <a:ext cx="14400" cy="3044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0" name="Google Shape;806;g12f2034a691_9_2">
                <a:extLst>
                  <a:ext uri="{FF2B5EF4-FFF2-40B4-BE49-F238E27FC236}">
                    <a16:creationId xmlns:a16="http://schemas.microsoft.com/office/drawing/2014/main" id="{D4370B02-0B1C-0825-538C-451F19244E72}"/>
                  </a:ext>
                </a:extLst>
              </p:cNvPr>
              <p:cNvSpPr/>
              <p:nvPr/>
            </p:nvSpPr>
            <p:spPr>
              <a:xfrm>
                <a:off x="3176500" y="4526212"/>
                <a:ext cx="2656800" cy="1128000"/>
              </a:xfrm>
              <a:prstGeom prst="rect">
                <a:avLst/>
              </a:prstGeom>
              <a:noFill/>
              <a:ln w="38100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7" name="Google Shape;805;g12f2034a691_9_2">
              <a:extLst>
                <a:ext uri="{FF2B5EF4-FFF2-40B4-BE49-F238E27FC236}">
                  <a16:creationId xmlns:a16="http://schemas.microsoft.com/office/drawing/2014/main" id="{6B8A8FD3-83DF-DACD-1DE4-EA890C4CA11B}"/>
                </a:ext>
              </a:extLst>
            </p:cNvPr>
            <p:cNvCxnSpPr>
              <a:stCxn id="50" idx="3"/>
            </p:cNvCxnSpPr>
            <p:nvPr/>
          </p:nvCxnSpPr>
          <p:spPr>
            <a:xfrm>
              <a:off x="5833300" y="5090212"/>
              <a:ext cx="1760100" cy="216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07665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A67F-9FE3-949B-0BFA-0706C113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99058F3-A610-7482-9FFC-A9A36121E68C}"/>
              </a:ext>
            </a:extLst>
          </p:cNvPr>
          <p:cNvSpPr txBox="1"/>
          <p:nvPr/>
        </p:nvSpPr>
        <p:spPr>
          <a:xfrm>
            <a:off x="1811272" y="1695253"/>
            <a:ext cx="856945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03 </a:t>
            </a:r>
          </a:p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BASIC GIT TERMINOLOGY</a:t>
            </a:r>
          </a:p>
        </p:txBody>
      </p:sp>
      <p:pic>
        <p:nvPicPr>
          <p:cNvPr id="2" name="Google Shape;311;p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AC0D66-9C70-022A-CBCF-211647A873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5693" y="4677623"/>
            <a:ext cx="4720614" cy="1306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258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4F1970-D670-6627-5D07-8BC1AEABD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202911"/>
              </p:ext>
            </p:extLst>
          </p:nvPr>
        </p:nvGraphicFramePr>
        <p:xfrm>
          <a:off x="693174" y="1508760"/>
          <a:ext cx="1080565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0137">
                  <a:extLst>
                    <a:ext uri="{9D8B030D-6E8A-4147-A177-3AD203B41FA5}">
                      <a16:colId xmlns:a16="http://schemas.microsoft.com/office/drawing/2014/main" val="1252490759"/>
                    </a:ext>
                  </a:extLst>
                </a:gridCol>
                <a:gridCol w="7555515">
                  <a:extLst>
                    <a:ext uri="{9D8B030D-6E8A-4147-A177-3AD203B41FA5}">
                      <a16:colId xmlns:a16="http://schemas.microsoft.com/office/drawing/2014/main" val="2177810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sz="3000" dirty="0"/>
                        <a:t>Git Terminology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3000" dirty="0"/>
                        <a:t>Descriptions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168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3000" dirty="0"/>
                        <a:t>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3000" dirty="0"/>
                        <a:t>Storage with collection of files and directories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924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3000" dirty="0"/>
                        <a:t>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3000" dirty="0"/>
                        <a:t>Initialize new repository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588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3000" dirty="0"/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3000" dirty="0"/>
                        <a:t>Changes to repository at specific point in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987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3000" dirty="0"/>
                        <a:t>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3000" dirty="0"/>
                        <a:t>Add file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035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30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3000" dirty="0"/>
                        <a:t>Information which files have been modified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3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3000" dirty="0"/>
                        <a:t>Push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3000" dirty="0"/>
                        <a:t>Upload local changes to remote repository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24703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6A0B010-6098-64C9-E3D4-902F5AD83669}"/>
              </a:ext>
            </a:extLst>
          </p:cNvPr>
          <p:cNvSpPr txBox="1"/>
          <p:nvPr/>
        </p:nvSpPr>
        <p:spPr>
          <a:xfrm>
            <a:off x="394362" y="307119"/>
            <a:ext cx="951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BASIC GIT TERMINOLOGY</a:t>
            </a:r>
          </a:p>
        </p:txBody>
      </p:sp>
    </p:spTree>
    <p:extLst>
      <p:ext uri="{BB962C8B-B14F-4D97-AF65-F5344CB8AC3E}">
        <p14:creationId xmlns:p14="http://schemas.microsoft.com/office/powerpoint/2010/main" val="3353675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A67F-9FE3-949B-0BFA-0706C113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99058F3-A610-7482-9FFC-A9A36121E68C}"/>
              </a:ext>
            </a:extLst>
          </p:cNvPr>
          <p:cNvSpPr txBox="1"/>
          <p:nvPr/>
        </p:nvSpPr>
        <p:spPr>
          <a:xfrm>
            <a:off x="1811272" y="1842736"/>
            <a:ext cx="856945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04 </a:t>
            </a:r>
          </a:p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BASIC GIT COMMANDS IN CLI</a:t>
            </a:r>
          </a:p>
        </p:txBody>
      </p:sp>
      <p:pic>
        <p:nvPicPr>
          <p:cNvPr id="2" name="Google Shape;311;p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AC0D66-9C70-022A-CBCF-211647A873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5693" y="4677623"/>
            <a:ext cx="4720614" cy="1306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8389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33B3B9-7D79-5A3D-D524-AA2000C5EEB9}"/>
              </a:ext>
            </a:extLst>
          </p:cNvPr>
          <p:cNvSpPr txBox="1"/>
          <p:nvPr/>
        </p:nvSpPr>
        <p:spPr>
          <a:xfrm>
            <a:off x="398926" y="1816310"/>
            <a:ext cx="6267345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Git commands are used by users to communicate with the machine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Git bash / command prompt is an application for Windows environments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Terminal is used for Mac user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2200" dirty="0">
                <a:latin typeface="Arial" panose="020B0604020202020204" pitchFamily="34" charset="0"/>
                <a:cs typeface="Arial" panose="020B0604020202020204" pitchFamily="34" charset="0"/>
              </a:rPr>
              <a:t>There are numerous git commands to perform every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E38B1C-9151-8FD5-B5D8-644E7D0BDCD8}"/>
              </a:ext>
            </a:extLst>
          </p:cNvPr>
          <p:cNvSpPr txBox="1"/>
          <p:nvPr/>
        </p:nvSpPr>
        <p:spPr>
          <a:xfrm>
            <a:off x="398926" y="440469"/>
            <a:ext cx="9511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BASIC GIT COMMANDS IN CLI</a:t>
            </a:r>
          </a:p>
        </p:txBody>
      </p:sp>
      <p:pic>
        <p:nvPicPr>
          <p:cNvPr id="4" name="Google Shape;603;g12ec9df1015_0_30">
            <a:extLst>
              <a:ext uri="{FF2B5EF4-FFF2-40B4-BE49-F238E27FC236}">
                <a16:creationId xmlns:a16="http://schemas.microsoft.com/office/drawing/2014/main" id="{1FCF669E-C8C5-8897-ECC5-FADEDAF9ED0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0714" t="17278" r="3327" b="2095"/>
          <a:stretch/>
        </p:blipFill>
        <p:spPr>
          <a:xfrm>
            <a:off x="6538452" y="1257035"/>
            <a:ext cx="5463251" cy="5254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6927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6A2E-49A8-8177-E8EE-5DFA2540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58EA2D6E-BA70-12FA-543E-94F04E77C07A}"/>
              </a:ext>
            </a:extLst>
          </p:cNvPr>
          <p:cNvSpPr txBox="1"/>
          <p:nvPr/>
        </p:nvSpPr>
        <p:spPr>
          <a:xfrm>
            <a:off x="1811272" y="1311795"/>
            <a:ext cx="856945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 </a:t>
            </a:r>
          </a:p>
          <a:p>
            <a:pPr algn="ctr"/>
            <a:r>
              <a:rPr lang="en-US" sz="5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INSTALLATION &amp; CONFIGURATION</a:t>
            </a:r>
          </a:p>
        </p:txBody>
      </p:sp>
      <p:pic>
        <p:nvPicPr>
          <p:cNvPr id="2" name="Google Shape;311;p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E40AE68-FD78-434C-9AAC-CE8E74A9CF0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5693" y="4677623"/>
            <a:ext cx="4720614" cy="1306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7407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11F3A-7C2A-0FC9-250E-FBF0C8BF4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3E3B2A4-E6DE-EA01-7C81-54F28EBF0B2B}"/>
              </a:ext>
            </a:extLst>
          </p:cNvPr>
          <p:cNvSpPr txBox="1"/>
          <p:nvPr/>
        </p:nvSpPr>
        <p:spPr>
          <a:xfrm>
            <a:off x="375312" y="78519"/>
            <a:ext cx="95116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INSTALL GIT ON YOUR LOCAL MACHINE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F0C673-1B00-81E2-98D0-F9306978E547}"/>
              </a:ext>
            </a:extLst>
          </p:cNvPr>
          <p:cNvSpPr txBox="1"/>
          <p:nvPr/>
        </p:nvSpPr>
        <p:spPr>
          <a:xfrm>
            <a:off x="384175" y="1884384"/>
            <a:ext cx="114236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MY" sz="3500" dirty="0"/>
              <a:t>Install Git </a:t>
            </a:r>
            <a:r>
              <a:rPr lang="en-MY" sz="3500" b="1" dirty="0">
                <a:solidFill>
                  <a:srgbClr val="F34F29"/>
                </a:solidFill>
                <a:hlinkClick r:id="rId2"/>
              </a:rPr>
              <a:t>https://git-scm.com/downloads</a:t>
            </a:r>
            <a:r>
              <a:rPr lang="en-MY" sz="3500" b="1" dirty="0">
                <a:solidFill>
                  <a:srgbClr val="F34F29"/>
                </a:solidFill>
              </a:rPr>
              <a:t> </a:t>
            </a:r>
            <a:r>
              <a:rPr lang="en-MY" sz="3500" b="1" dirty="0">
                <a:solidFill>
                  <a:srgbClr val="FFC000"/>
                </a:solidFill>
              </a:rPr>
              <a:t> 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MY" sz="3500" dirty="0"/>
              <a:t>Install Visual Studio Code (</a:t>
            </a:r>
            <a:r>
              <a:rPr lang="en-MY" sz="3500" dirty="0" err="1"/>
              <a:t>vscode</a:t>
            </a:r>
            <a:r>
              <a:rPr lang="en-MY" sz="3500" dirty="0"/>
              <a:t>) </a:t>
            </a:r>
          </a:p>
          <a:p>
            <a:pPr marL="1143000" lvl="2" indent="-260350">
              <a:buSzPts val="2300"/>
              <a:buChar char="•"/>
            </a:pPr>
            <a:r>
              <a:rPr lang="en-MY" sz="3500" dirty="0"/>
              <a:t>Open </a:t>
            </a:r>
            <a:r>
              <a:rPr lang="en-MY" sz="3500" b="1" dirty="0">
                <a:hlinkClick r:id="rId3"/>
              </a:rPr>
              <a:t>https://code.visualstudio.com/</a:t>
            </a:r>
            <a:endParaRPr lang="en-MY" sz="3500" b="1" dirty="0">
              <a:solidFill>
                <a:srgbClr val="F34F29"/>
              </a:solidFill>
            </a:endParaRPr>
          </a:p>
          <a:p>
            <a:pPr marL="1143000" lvl="2" indent="-260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MY" sz="3500" dirty="0"/>
              <a:t>Click Download button</a:t>
            </a:r>
            <a:endParaRPr lang="en-MY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oogle Shape;228;p1" descr="Git - Logo Downloads">
            <a:extLst>
              <a:ext uri="{FF2B5EF4-FFF2-40B4-BE49-F238E27FC236}">
                <a16:creationId xmlns:a16="http://schemas.microsoft.com/office/drawing/2014/main" id="{064FB77E-C30A-BF45-B9D7-BACDC14C65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7588" y="4534921"/>
            <a:ext cx="5170055" cy="1678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Visual Studio Code launches as a snap">
            <a:extLst>
              <a:ext uri="{FF2B5EF4-FFF2-40B4-BE49-F238E27FC236}">
                <a16:creationId xmlns:a16="http://schemas.microsoft.com/office/drawing/2014/main" id="{8624DA24-4716-952B-2313-F967B8C3C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766" y="4131152"/>
            <a:ext cx="4271433" cy="213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38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616E-F2AC-F828-AFA6-4707396C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F3E8CB1-02D8-0E54-F843-85F6F7588812}"/>
              </a:ext>
            </a:extLst>
          </p:cNvPr>
          <p:cNvSpPr txBox="1"/>
          <p:nvPr/>
        </p:nvSpPr>
        <p:spPr>
          <a:xfrm>
            <a:off x="375312" y="78519"/>
            <a:ext cx="95116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solidFill>
                  <a:srgbClr val="6C1D35"/>
                </a:solidFill>
                <a:latin typeface="Arial Black" panose="020B0A04020102020204" pitchFamily="34" charset="0"/>
              </a:rPr>
              <a:t>CONFIGURE GIT SETTINGS (NAME, EMAIL ADDRESS)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7FF7DE-E78D-24F4-6ECA-F504CBA34B97}"/>
              </a:ext>
            </a:extLst>
          </p:cNvPr>
          <p:cNvSpPr txBox="1"/>
          <p:nvPr/>
        </p:nvSpPr>
        <p:spPr>
          <a:xfrm>
            <a:off x="375312" y="1958740"/>
            <a:ext cx="114236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MY" sz="3500" dirty="0"/>
              <a:t>Configure Git (user information for all local repositories)</a:t>
            </a:r>
          </a:p>
          <a:p>
            <a:pPr marL="1143000" lvl="2" indent="-260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MY" sz="3500" dirty="0"/>
              <a:t>git config --global user.name “name”</a:t>
            </a:r>
          </a:p>
          <a:p>
            <a:pPr marL="1143000" lvl="2" indent="-260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MY" sz="3500" dirty="0"/>
              <a:t>git config --global </a:t>
            </a:r>
            <a:r>
              <a:rPr lang="en-MY" sz="3500" dirty="0" err="1"/>
              <a:t>user.email</a:t>
            </a:r>
            <a:r>
              <a:rPr lang="en-MY" sz="3500" dirty="0"/>
              <a:t> “email address” </a:t>
            </a:r>
          </a:p>
          <a:p>
            <a:pPr marL="1143000" lvl="2" indent="-260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MY" sz="3500" dirty="0"/>
              <a:t>git config --global --list</a:t>
            </a:r>
          </a:p>
        </p:txBody>
      </p:sp>
    </p:spTree>
    <p:extLst>
      <p:ext uri="{BB962C8B-B14F-4D97-AF65-F5344CB8AC3E}">
        <p14:creationId xmlns:p14="http://schemas.microsoft.com/office/powerpoint/2010/main" val="3386749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BB13B1-3173-840F-E5CB-6A8FDE060117}"/>
              </a:ext>
            </a:extLst>
          </p:cNvPr>
          <p:cNvSpPr txBox="1"/>
          <p:nvPr/>
        </p:nvSpPr>
        <p:spPr>
          <a:xfrm>
            <a:off x="4598874" y="6235300"/>
            <a:ext cx="2980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6C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cairo@utm.my / trainer’s email</a:t>
            </a:r>
            <a:endParaRPr lang="en-MY" sz="1200" b="1" dirty="0">
              <a:solidFill>
                <a:srgbClr val="6C1D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63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2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6C1D35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6C3636"/>
    </a:accent6>
    <a:hlink>
      <a:srgbClr val="CC9900"/>
    </a:hlink>
    <a:folHlink>
      <a:srgbClr val="96A9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8055</TotalTime>
  <Words>369</Words>
  <Application>Microsoft Macintosh PowerPoint</Application>
  <PresentationFormat>Widescreen</PresentationFormat>
  <Paragraphs>85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Montserrat Semi</vt:lpstr>
      <vt:lpstr>Source Sans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AMALINA BINTI HAMIDI</dc:creator>
  <cp:lastModifiedBy>NURULAQILLA BINTI KHAMIS</cp:lastModifiedBy>
  <cp:revision>142</cp:revision>
  <dcterms:created xsi:type="dcterms:W3CDTF">2023-12-31T03:09:43Z</dcterms:created>
  <dcterms:modified xsi:type="dcterms:W3CDTF">2025-11-17T05:40:39Z</dcterms:modified>
</cp:coreProperties>
</file>